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3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17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42EA2-39BA-4C9A-AD59-755D4917D532}" type="doc">
      <dgm:prSet loTypeId="urn:microsoft.com/office/officeart/2005/8/layout/cycle4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4689FF-1AD8-47FE-A3D7-AB163334256A}" type="pres">
      <dgm:prSet presAssocID="{3F442EA2-39BA-4C9A-AD59-755D4917D532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</dgm:ptLst>
  <dgm:cxnLst>
    <dgm:cxn modelId="{90093FC6-106B-40B8-B2D8-BDC679A6E175}" type="presOf" srcId="{3F442EA2-39BA-4C9A-AD59-755D4917D532}" destId="{4A4689FF-1AD8-47FE-A3D7-AB163334256A}" srcOrd="0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91178-905E-4181-A080-73FBE2A7F10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C0C31-3BFD-43A2-B8EE-356E8F33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55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49B93-516E-447E-9C4C-C287614C639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908AF-65BE-457F-9D87-289A548E6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2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908AF-65BE-457F-9D87-289A548E61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18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908AF-65BE-457F-9D87-289A548E61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92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747B1E0-F476-4322-AA53-0018286DBC2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8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9E97-DADD-4C08-B07A-21ABC2EC9C0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8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430-5DC0-47CA-BF30-F2CEF34F1CC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E9D0-9F88-4809-9326-E87DB6BC468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8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D937-36D5-440B-91A0-6786F6EDBFC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0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020A-2292-4331-AC54-713AADF8BC0C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9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559-F34C-48D0-A2A2-37B0B078BBAB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B5B2-44EC-4F73-968D-750C1952CA6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2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D9984-D554-4F72-BAB6-CB2CCA8D58F4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9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123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441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662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186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8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82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38E9944-B6E8-44FA-B3BC-28C8F3B97A6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9D6BA2A-22AB-40C3-A6FE-08AE8F5EAD5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8D91-5085-43EA-8734-9AB23AC0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1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BCC73E2-E386-4A38-B838-238D9BA645F8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D068D91-5085-43EA-8734-9AB23AC09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8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709" y="1219200"/>
            <a:ext cx="10166466" cy="2446713"/>
          </a:xfrm>
        </p:spPr>
        <p:txBody>
          <a:bodyPr/>
          <a:lstStyle/>
          <a:p>
            <a:r>
              <a:rPr lang="en-IN" dirty="0"/>
              <a:t>Amazon Music Clustering   🎧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948545"/>
            <a:ext cx="8479496" cy="62345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Unsupervised Machine Learning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07684-E91E-4407-B9AA-AB909CA9671B}"/>
              </a:ext>
            </a:extLst>
          </p:cNvPr>
          <p:cNvSpPr txBox="1"/>
          <p:nvPr/>
        </p:nvSpPr>
        <p:spPr>
          <a:xfrm>
            <a:off x="789709" y="4854632"/>
            <a:ext cx="100667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by: Supriya Mishra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7528C-A79A-899C-25B9-424EB1EF87AC}"/>
              </a:ext>
            </a:extLst>
          </p:cNvPr>
          <p:cNvSpPr txBox="1"/>
          <p:nvPr/>
        </p:nvSpPr>
        <p:spPr>
          <a:xfrm>
            <a:off x="1025236" y="5599608"/>
            <a:ext cx="1014152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Skills:</a:t>
            </a:r>
            <a:r>
              <a:rPr lang="en-US" dirty="0">
                <a:solidFill>
                  <a:schemeClr val="bg1"/>
                </a:solidFill>
              </a:rPr>
              <a:t> Python, Scikit-Learn, K-Means, </a:t>
            </a:r>
            <a:r>
              <a:rPr lang="en-US" dirty="0" err="1">
                <a:solidFill>
                  <a:schemeClr val="bg1"/>
                </a:solidFill>
              </a:rPr>
              <a:t>Streamlit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16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 &amp; Business Use Cases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The Problem: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Amazon Music has millions of songs. Manually tagging genres is slow, subjective, and impractical.</a:t>
            </a:r>
          </a:p>
          <a:p>
            <a:pPr marL="0" lv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0"/>
            <a:r>
              <a:rPr lang="en-US" b="1" dirty="0"/>
              <a:t>The Solution: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Use Machine Learning to "listen" to audio features and group songs automatically</a:t>
            </a:r>
            <a:r>
              <a:rPr lang="en-US" dirty="0"/>
              <a:t>.</a:t>
            </a:r>
          </a:p>
          <a:p>
            <a:pPr lvl="0"/>
            <a:r>
              <a:rPr lang="en-IN" dirty="0"/>
              <a:t>Use Cases:</a:t>
            </a:r>
            <a:endParaRPr lang="en-US" dirty="0"/>
          </a:p>
          <a:p>
            <a:pPr lvl="2"/>
            <a:r>
              <a:rPr lang="en-US" b="1" dirty="0"/>
              <a:t>Personalized Playlists: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Creating mood-based sets (e.g., "Deep Focus").</a:t>
            </a:r>
          </a:p>
          <a:p>
            <a:pPr lvl="2"/>
            <a:r>
              <a:rPr lang="en-US" b="1" dirty="0"/>
              <a:t>Song Discovery: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Suggesting tracks with similar "audio fingerprints.”</a:t>
            </a:r>
          </a:p>
          <a:p>
            <a:pPr lvl="2"/>
            <a:r>
              <a:rPr lang="en-US" b="1" dirty="0"/>
              <a:t>Market Analysis: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Identifying gaps in the music library. </a:t>
            </a:r>
          </a:p>
        </p:txBody>
      </p:sp>
    </p:spTree>
    <p:extLst>
      <p:ext uri="{BB962C8B-B14F-4D97-AF65-F5344CB8AC3E}">
        <p14:creationId xmlns:p14="http://schemas.microsoft.com/office/powerpoint/2010/main" val="49949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Preprocessing &amp; Feature Engineering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9CBAC53-3154-CB50-9642-4C7357367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6971"/>
            <a:ext cx="10373032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Dataset: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Amazon Music audio features (Danceability, Energy, Tempo,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Handled missing values and dropped non-numeric metadata.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Scaling (Crucial Step):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Used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StandardScaler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 normalize data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Why?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To ensure high-value features (like Tempo) don't overpower low-value 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(like Danceability).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Features Selected: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10 key audio characteristics that define a song’s "sou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nd”.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64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Optimal Clusters (The Elbow Method)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D3F321-C699-6883-4B68-ECC808B294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3081020"/>
            <a:ext cx="4824413" cy="2461260"/>
          </a:xfrm>
          <a:prstGeom prst="rect">
            <a:avLst/>
          </a:prstGeom>
          <a:solidFill>
            <a:srgbClr val="865640">
              <a:lumMod val="20000"/>
              <a:lumOff val="80000"/>
              <a:alpha val="80000"/>
            </a:srgbClr>
          </a:solidFill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Method:</a:t>
            </a:r>
            <a:r>
              <a:rPr lang="en-US" sz="2000" dirty="0"/>
              <a:t> Ran K-Means for k=2 to k=10.</a:t>
            </a:r>
          </a:p>
          <a:p>
            <a:r>
              <a:rPr lang="en-US" sz="2000" b="1" dirty="0"/>
              <a:t>The Decision:</a:t>
            </a:r>
            <a:r>
              <a:rPr lang="en-US" sz="2000" dirty="0"/>
              <a:t> Chose </a:t>
            </a:r>
            <a:r>
              <a:rPr lang="en-US" sz="2000" b="1" dirty="0"/>
              <a:t>\(k=5\)</a:t>
            </a:r>
            <a:r>
              <a:rPr lang="en-US" sz="2000" dirty="0"/>
              <a:t> as the "Elbow Point" where the rate of improvement (Inertia) began to level off.</a:t>
            </a:r>
          </a:p>
          <a:p>
            <a:r>
              <a:rPr lang="en-US" sz="2000" b="1" dirty="0"/>
              <a:t>Evaluation:</a:t>
            </a:r>
            <a:r>
              <a:rPr lang="en-US" sz="2000" dirty="0"/>
              <a:t> Validated the clusters using the </a:t>
            </a:r>
            <a:r>
              <a:rPr lang="en-US" sz="2000" b="1" dirty="0"/>
              <a:t>Silhouette Score.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17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Visualizing the Clusters (PCA)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780010" y="2227812"/>
            <a:ext cx="5181602" cy="3896100"/>
          </a:xfrm>
        </p:spPr>
        <p:txBody>
          <a:bodyPr>
            <a:normAutofit/>
          </a:bodyPr>
          <a:lstStyle/>
          <a:p>
            <a:r>
              <a:rPr lang="en-US" sz="2000" b="1" dirty="0"/>
              <a:t>The Challenge:</a:t>
            </a:r>
            <a:r>
              <a:rPr lang="en-US" sz="2000" dirty="0"/>
              <a:t> We can't visualize 10 dimensions at once.</a:t>
            </a:r>
          </a:p>
          <a:p>
            <a:r>
              <a:rPr lang="en-US" sz="2000" b="1" dirty="0"/>
              <a:t>The Solution:</a:t>
            </a:r>
            <a:r>
              <a:rPr lang="en-US" sz="2000" dirty="0"/>
              <a:t> Used </a:t>
            </a:r>
            <a:r>
              <a:rPr lang="en-US" sz="2000" b="1" dirty="0"/>
              <a:t>Principal Component Analysis (PCA)</a:t>
            </a:r>
            <a:r>
              <a:rPr lang="en-US" sz="2000" dirty="0"/>
              <a:t> to squash data into 2D.</a:t>
            </a:r>
          </a:p>
          <a:p>
            <a:r>
              <a:rPr lang="en-US" sz="2000" b="1" dirty="0"/>
              <a:t>Insight:</a:t>
            </a:r>
            <a:r>
              <a:rPr lang="en-US" sz="2000" dirty="0"/>
              <a:t> The clear separation between colors proves the model successfully found distinct patterns in the music.</a:t>
            </a:r>
          </a:p>
        </p:txBody>
      </p:sp>
      <p:graphicFrame>
        <p:nvGraphicFramePr>
          <p:cNvPr id="9" name="Content Placeholder 8" descr="Cycle Matrix diagram showing four groups in a pie shape with tasks in bullet points coming out of each group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31389003"/>
              </p:ext>
            </p:extLst>
          </p:nvPr>
        </p:nvGraphicFramePr>
        <p:xfrm>
          <a:off x="6208713" y="2603500"/>
          <a:ext cx="4824412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AFE8B0B-1ED3-0F4C-F9CC-ADB9B2EC5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612" y="2327564"/>
            <a:ext cx="5447648" cy="37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0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77F6-4868-A58C-015F-E4B4FC8A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Musical Fingerprints (Cluster Analysis)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C59E49-2F78-3C1F-7A59-1846AC0D80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3105547"/>
            <a:ext cx="4824413" cy="2412206"/>
          </a:xfrm>
          <a:prstGeom prst="rect">
            <a:avLst/>
          </a:prstGeom>
          <a:solidFill>
            <a:srgbClr val="865640">
              <a:lumMod val="20000"/>
              <a:lumOff val="80000"/>
              <a:alpha val="80000"/>
            </a:srgbClr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B592-D38F-8BB4-16C0-EE7BC9CEC4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/>
              <a:t>The Story (Labels):</a:t>
            </a:r>
          </a:p>
          <a:p>
            <a:pPr marL="0" indent="0">
              <a:buNone/>
            </a:pPr>
            <a:endParaRPr lang="en-US" sz="2200" b="1" dirty="0"/>
          </a:p>
          <a:p>
            <a:r>
              <a:rPr lang="en-US" sz="2000" b="1" dirty="0"/>
              <a:t>Cluster 0:</a:t>
            </a:r>
            <a:r>
              <a:rPr lang="en-US" sz="2000" dirty="0"/>
              <a:t> </a:t>
            </a:r>
            <a:r>
              <a:rPr lang="en-US" sz="2000" i="1" dirty="0"/>
              <a:t>Feel-Good Hits</a:t>
            </a:r>
            <a:r>
              <a:rPr lang="en-US" sz="2000" dirty="0"/>
              <a:t> (High Valence/Energy).</a:t>
            </a:r>
          </a:p>
          <a:p>
            <a:r>
              <a:rPr lang="en-US" sz="2000" b="1" dirty="0"/>
              <a:t>Cluster 1:</a:t>
            </a:r>
            <a:r>
              <a:rPr lang="en-US" sz="2000" dirty="0"/>
              <a:t> </a:t>
            </a:r>
            <a:r>
              <a:rPr lang="en-US" sz="2000" i="1" dirty="0"/>
              <a:t>Instrumental/Chill</a:t>
            </a:r>
            <a:r>
              <a:rPr lang="en-US" sz="2000" dirty="0"/>
              <a:t> (High </a:t>
            </a:r>
            <a:r>
              <a:rPr lang="en-US" sz="2000" dirty="0" err="1"/>
              <a:t>Instrumentalness</a:t>
            </a:r>
            <a:r>
              <a:rPr lang="en-US" sz="2000" dirty="0"/>
              <a:t>).</a:t>
            </a:r>
          </a:p>
          <a:p>
            <a:r>
              <a:rPr lang="en-US" sz="2000" b="1" dirty="0"/>
              <a:t>Cluster 2:</a:t>
            </a:r>
            <a:r>
              <a:rPr lang="en-US" sz="2000" dirty="0"/>
              <a:t> </a:t>
            </a:r>
            <a:r>
              <a:rPr lang="en-US" sz="2000" i="1" dirty="0"/>
              <a:t>Spoken Word</a:t>
            </a:r>
            <a:r>
              <a:rPr lang="en-US" sz="2000" dirty="0"/>
              <a:t> (High </a:t>
            </a:r>
            <a:r>
              <a:rPr lang="en-US" sz="2000" dirty="0" err="1"/>
              <a:t>Speechiness</a:t>
            </a:r>
            <a:r>
              <a:rPr lang="en-US" sz="2000" dirty="0"/>
              <a:t>/Short Duration).</a:t>
            </a:r>
          </a:p>
          <a:p>
            <a:r>
              <a:rPr lang="en-US" sz="2000" b="1" dirty="0"/>
              <a:t>Cluster 3:</a:t>
            </a:r>
            <a:r>
              <a:rPr lang="en-US" sz="2000" dirty="0"/>
              <a:t> </a:t>
            </a:r>
            <a:r>
              <a:rPr lang="en-US" sz="2000" i="1" dirty="0"/>
              <a:t>Soft Acoustic</a:t>
            </a:r>
            <a:r>
              <a:rPr lang="en-US" sz="2000" dirty="0"/>
              <a:t> (High </a:t>
            </a:r>
            <a:r>
              <a:rPr lang="en-US" sz="2000" dirty="0" err="1"/>
              <a:t>Acousticness</a:t>
            </a:r>
            <a:r>
              <a:rPr lang="en-US" sz="2000" dirty="0"/>
              <a:t>).</a:t>
            </a:r>
          </a:p>
          <a:p>
            <a:r>
              <a:rPr lang="en-US" sz="2000" b="1" dirty="0"/>
              <a:t>Cluster 4:</a:t>
            </a:r>
            <a:r>
              <a:rPr lang="en-US" sz="2000" dirty="0"/>
              <a:t> </a:t>
            </a:r>
            <a:r>
              <a:rPr lang="en-US" sz="2000" i="1" dirty="0"/>
              <a:t>High Energy</a:t>
            </a:r>
            <a:r>
              <a:rPr lang="en-US" sz="2000" dirty="0"/>
              <a:t> (High Tempo/Loudness).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6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EEAE-1D1B-B7F3-3761-A76C58C1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Demo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C87B4A-3675-F38D-0BA4-247407E2C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0815"/>
            <a:ext cx="10515600" cy="408761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Summary: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Built an end-to-end pipeline from raw data to a functional clustering model.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Bonus Deliverable: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Interactive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 App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for real-time cluster exploration.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Future Scope: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Integrate this model into a real-time recommendation engine.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Call to Action: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"Let's move to the Live Demo of the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App."</a:t>
            </a:r>
          </a:p>
          <a:p>
            <a:pPr marL="0" indent="0">
              <a:buNone/>
            </a:pP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44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73</TotalTime>
  <Words>415</Words>
  <Application>Microsoft Office PowerPoint</Application>
  <PresentationFormat>Widescreen</PresentationFormat>
  <Paragraphs>46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Courier New</vt:lpstr>
      <vt:lpstr>Google Sans</vt:lpstr>
      <vt:lpstr>Wingdings 3</vt:lpstr>
      <vt:lpstr>Ion Boardroom</vt:lpstr>
      <vt:lpstr>Amazon Music Clustering   🎧</vt:lpstr>
      <vt:lpstr>Problem Statement &amp; Business Use Cases</vt:lpstr>
      <vt:lpstr>Data Preprocessing &amp; Feature Engineering</vt:lpstr>
      <vt:lpstr>Finding the Optimal Clusters (The Elbow Method)</vt:lpstr>
      <vt:lpstr>Visualizing the Clusters (PCA)</vt:lpstr>
      <vt:lpstr>Musical Fingerprints (Cluster Analysis)</vt:lpstr>
      <vt:lpstr>Conclusion &amp;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Mishra, Ashutosh {PEP}</dc:creator>
  <cp:lastModifiedBy>Mishra, Ashutosh {PEP}</cp:lastModifiedBy>
  <cp:revision>1</cp:revision>
  <dcterms:created xsi:type="dcterms:W3CDTF">2026-05-11T10:13:08Z</dcterms:created>
  <dcterms:modified xsi:type="dcterms:W3CDTF">2026-05-11T11:27:02Z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